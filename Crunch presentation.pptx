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Bricolage Grotesque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Bricolage Grotesque" panose="020B0604020202020204" charset="0"/>
      <p:regular r:id="rId19"/>
    </p:embeddedFont>
    <p:embeddedFont>
      <p:font typeface="Arial Unicode MS" panose="020B0604020202020204" pitchFamily="34" charset="-128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161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655F-4698-467E-BD95-45D33997C736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B435F-5953-41EE-9F54-4AEC948BE5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2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7B435F-5953-41EE-9F54-4AEC948BE5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6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5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2.emf"/><Relationship Id="rId10" Type="http://schemas.openxmlformats.org/officeDocument/2006/relationships/image" Target="../media/image2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.svg"/><Relationship Id="rId3" Type="http://schemas.openxmlformats.org/officeDocument/2006/relationships/image" Target="../media/image3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7.png"/><Relationship Id="rId4" Type="http://schemas.openxmlformats.org/officeDocument/2006/relationships/image" Target="../media/image2.png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49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.png"/><Relationship Id="rId4" Type="http://schemas.openxmlformats.org/officeDocument/2006/relationships/image" Target="../media/image45.svg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21.png"/><Relationship Id="rId3" Type="http://schemas.openxmlformats.org/officeDocument/2006/relationships/image" Target="../media/image54.svg"/><Relationship Id="rId12" Type="http://schemas.openxmlformats.org/officeDocument/2006/relationships/image" Target="../media/image6.png"/><Relationship Id="rId17" Type="http://schemas.openxmlformats.org/officeDocument/2006/relationships/image" Target="../media/image24.png"/><Relationship Id="rId2" Type="http://schemas.openxmlformats.org/officeDocument/2006/relationships/image" Target="../media/image22.png"/><Relationship Id="rId16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svg"/><Relationship Id="rId15" Type="http://schemas.openxmlformats.org/officeDocument/2006/relationships/image" Target="../media/image23.png"/><Relationship Id="rId4" Type="http://schemas.openxmlformats.org/officeDocument/2006/relationships/image" Target="../media/image2.png"/><Relationship Id="rId1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5.svg"/><Relationship Id="rId7" Type="http://schemas.openxmlformats.org/officeDocument/2006/relationships/image" Target="../media/image69.svg"/><Relationship Id="rId12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4.svg"/><Relationship Id="rId3" Type="http://schemas.openxmlformats.org/officeDocument/2006/relationships/image" Target="../media/image54.svg"/><Relationship Id="rId7" Type="http://schemas.openxmlformats.org/officeDocument/2006/relationships/image" Target="../media/image71.svg"/><Relationship Id="rId17" Type="http://schemas.openxmlformats.org/officeDocument/2006/relationships/image" Target="../media/image19.png"/><Relationship Id="rId2" Type="http://schemas.openxmlformats.org/officeDocument/2006/relationships/image" Target="../media/image22.png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28.png"/><Relationship Id="rId4" Type="http://schemas.openxmlformats.org/officeDocument/2006/relationships/image" Target="../media/image29.pn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image" Target="../media/image24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17" Type="http://schemas.openxmlformats.org/officeDocument/2006/relationships/image" Target="../media/image28.png"/><Relationship Id="rId2" Type="http://schemas.openxmlformats.org/officeDocument/2006/relationships/image" Target="../media/image3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9.svg"/><Relationship Id="rId15" Type="http://schemas.openxmlformats.org/officeDocument/2006/relationships/image" Target="../media/image4.sv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8" Type="http://schemas.openxmlformats.org/officeDocument/2006/relationships/image" Target="../media/image24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17" Type="http://schemas.openxmlformats.org/officeDocument/2006/relationships/image" Target="../media/image28.png"/><Relationship Id="rId2" Type="http://schemas.openxmlformats.org/officeDocument/2006/relationships/image" Target="../media/image3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9.svg"/><Relationship Id="rId15" Type="http://schemas.openxmlformats.org/officeDocument/2006/relationships/image" Target="../media/image4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147927">
            <a:off x="896752" y="-8376557"/>
            <a:ext cx="16494496" cy="17649752"/>
          </a:xfrm>
          <a:custGeom>
            <a:avLst/>
            <a:gdLst/>
            <a:ahLst/>
            <a:cxnLst/>
            <a:rect l="l" t="t" r="r" b="b"/>
            <a:pathLst>
              <a:path w="16494496" h="17649752">
                <a:moveTo>
                  <a:pt x="0" y="0"/>
                </a:moveTo>
                <a:lnTo>
                  <a:pt x="16494496" y="0"/>
                </a:lnTo>
                <a:lnTo>
                  <a:pt x="16494496" y="17649752"/>
                </a:lnTo>
                <a:lnTo>
                  <a:pt x="0" y="17649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14096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0467998" y="8314096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262202" y="5821692"/>
            <a:ext cx="7005518" cy="5511514"/>
          </a:xfrm>
          <a:custGeom>
            <a:avLst/>
            <a:gdLst/>
            <a:ahLst/>
            <a:cxnLst/>
            <a:rect l="l" t="t" r="r" b="b"/>
            <a:pathLst>
              <a:path w="7005518" h="5511514">
                <a:moveTo>
                  <a:pt x="0" y="0"/>
                </a:moveTo>
                <a:lnTo>
                  <a:pt x="7005518" y="0"/>
                </a:lnTo>
                <a:lnTo>
                  <a:pt x="7005518" y="5511515"/>
                </a:lnTo>
                <a:lnTo>
                  <a:pt x="0" y="5511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0875"/>
            </a:stretch>
          </a:blipFill>
        </p:spPr>
      </p:sp>
      <p:sp>
        <p:nvSpPr>
          <p:cNvPr id="6" name="Freeform 6"/>
          <p:cNvSpPr/>
          <p:nvPr/>
        </p:nvSpPr>
        <p:spPr>
          <a:xfrm rot="907131">
            <a:off x="12326845" y="6939021"/>
            <a:ext cx="5157431" cy="5794603"/>
          </a:xfrm>
          <a:custGeom>
            <a:avLst/>
            <a:gdLst/>
            <a:ahLst/>
            <a:cxnLst/>
            <a:rect l="l" t="t" r="r" b="b"/>
            <a:pathLst>
              <a:path w="5157431" h="5794603">
                <a:moveTo>
                  <a:pt x="0" y="0"/>
                </a:moveTo>
                <a:lnTo>
                  <a:pt x="5157431" y="0"/>
                </a:lnTo>
                <a:lnTo>
                  <a:pt x="5157431" y="5794603"/>
                </a:lnTo>
                <a:lnTo>
                  <a:pt x="0" y="579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31" r="-14139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27578" y="4311719"/>
            <a:ext cx="5032844" cy="681299"/>
            <a:chOff x="0" y="0"/>
            <a:chExt cx="1325523" cy="1794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5523" cy="179437"/>
            </a:xfrm>
            <a:custGeom>
              <a:avLst/>
              <a:gdLst/>
              <a:ahLst/>
              <a:cxnLst/>
              <a:rect l="l" t="t" r="r" b="b"/>
              <a:pathLst>
                <a:path w="1325523" h="179437">
                  <a:moveTo>
                    <a:pt x="76914" y="0"/>
                  </a:moveTo>
                  <a:lnTo>
                    <a:pt x="1248609" y="0"/>
                  </a:lnTo>
                  <a:cubicBezTo>
                    <a:pt x="1291087" y="0"/>
                    <a:pt x="1325523" y="34436"/>
                    <a:pt x="1325523" y="76914"/>
                  </a:cubicBezTo>
                  <a:lnTo>
                    <a:pt x="1325523" y="102523"/>
                  </a:lnTo>
                  <a:cubicBezTo>
                    <a:pt x="1325523" y="122922"/>
                    <a:pt x="1317419" y="142485"/>
                    <a:pt x="1302995" y="156909"/>
                  </a:cubicBezTo>
                  <a:cubicBezTo>
                    <a:pt x="1288571" y="171333"/>
                    <a:pt x="1269008" y="179437"/>
                    <a:pt x="1248609" y="179437"/>
                  </a:cubicBezTo>
                  <a:lnTo>
                    <a:pt x="76914" y="179437"/>
                  </a:lnTo>
                  <a:cubicBezTo>
                    <a:pt x="34436" y="179437"/>
                    <a:pt x="0" y="145001"/>
                    <a:pt x="0" y="102523"/>
                  </a:cubicBezTo>
                  <a:lnTo>
                    <a:pt x="0" y="76914"/>
                  </a:lnTo>
                  <a:cubicBezTo>
                    <a:pt x="0" y="34436"/>
                    <a:pt x="34436" y="0"/>
                    <a:pt x="769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325523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144738" y="1114425"/>
            <a:ext cx="9998524" cy="142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40"/>
              </a:lnSpc>
            </a:pPr>
            <a:endParaRPr lang="en-US" sz="9945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144738" y="2668209"/>
            <a:ext cx="9998524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dirty="0">
                <a:latin typeface="Bricolage Grotesque" panose="020B0604020202020204" charset="0"/>
              </a:rPr>
              <a:t>Legacy of the Market King: The Freezer Gambit</a:t>
            </a:r>
            <a:endParaRPr lang="en-US" sz="3200" dirty="0">
              <a:latin typeface="Bricolage Grotesque" panose="020B060402020202020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49504" y="4484112"/>
            <a:ext cx="2583157" cy="35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499" dirty="0">
                <a:solidFill>
                  <a:srgbClr val="01044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Presentation By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4768" y="4484112"/>
            <a:ext cx="2086249" cy="35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b="1" dirty="0" err="1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HackSquad</a:t>
            </a:r>
            <a:endParaRPr lang="en-US" sz="2499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4547476" y="5278767"/>
            <a:ext cx="9193049" cy="5582688"/>
          </a:xfrm>
          <a:custGeom>
            <a:avLst/>
            <a:gdLst/>
            <a:ahLst/>
            <a:cxnLst/>
            <a:rect l="l" t="t" r="r" b="b"/>
            <a:pathLst>
              <a:path w="9193049" h="5582688">
                <a:moveTo>
                  <a:pt x="0" y="0"/>
                </a:moveTo>
                <a:lnTo>
                  <a:pt x="9193048" y="0"/>
                </a:lnTo>
                <a:lnTo>
                  <a:pt x="9193048" y="5582688"/>
                </a:lnTo>
                <a:lnTo>
                  <a:pt x="0" y="5582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5"/>
          <p:cNvSpPr txBox="1"/>
          <p:nvPr/>
        </p:nvSpPr>
        <p:spPr>
          <a:xfrm>
            <a:off x="3581400" y="1232820"/>
            <a:ext cx="121438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err="1">
                <a:latin typeface="Bricolage Grotesque" panose="020B0604020202020204" charset="0"/>
              </a:rPr>
              <a:t>AgroChill</a:t>
            </a:r>
            <a:r>
              <a:rPr lang="en-US" sz="6600" b="1" dirty="0">
                <a:latin typeface="Bricolage Grotesque" panose="020B0604020202020204" charset="0"/>
              </a:rPr>
              <a:t> Forecasting Engine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100030">
            <a:off x="-5765569" y="354309"/>
            <a:ext cx="16890606" cy="15719524"/>
          </a:xfrm>
          <a:custGeom>
            <a:avLst/>
            <a:gdLst/>
            <a:ahLst/>
            <a:cxnLst/>
            <a:rect l="l" t="t" r="r" b="b"/>
            <a:pathLst>
              <a:path w="16890606" h="15719524">
                <a:moveTo>
                  <a:pt x="0" y="0"/>
                </a:moveTo>
                <a:lnTo>
                  <a:pt x="16890606" y="0"/>
                </a:lnTo>
                <a:lnTo>
                  <a:pt x="16890606" y="15719524"/>
                </a:lnTo>
                <a:lnTo>
                  <a:pt x="0" y="1571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81301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5400000">
            <a:off x="1049820" y="-1373025"/>
            <a:ext cx="1803811" cy="4610378"/>
          </a:xfrm>
          <a:custGeom>
            <a:avLst/>
            <a:gdLst/>
            <a:ahLst/>
            <a:cxnLst/>
            <a:rect l="l" t="t" r="r" b="b"/>
            <a:pathLst>
              <a:path w="1803811" h="4610378">
                <a:moveTo>
                  <a:pt x="0" y="0"/>
                </a:moveTo>
                <a:lnTo>
                  <a:pt x="1803811" y="0"/>
                </a:lnTo>
                <a:lnTo>
                  <a:pt x="1803811" y="4610378"/>
                </a:lnTo>
                <a:lnTo>
                  <a:pt x="0" y="4610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411100">
            <a:off x="68453" y="28087"/>
            <a:ext cx="2310898" cy="2619818"/>
          </a:xfrm>
          <a:custGeom>
            <a:avLst/>
            <a:gdLst/>
            <a:ahLst/>
            <a:cxnLst/>
            <a:rect l="l" t="t" r="r" b="b"/>
            <a:pathLst>
              <a:path w="2310898" h="2619818">
                <a:moveTo>
                  <a:pt x="0" y="0"/>
                </a:moveTo>
                <a:lnTo>
                  <a:pt x="2310898" y="0"/>
                </a:lnTo>
                <a:lnTo>
                  <a:pt x="2310898" y="2619818"/>
                </a:lnTo>
                <a:lnTo>
                  <a:pt x="0" y="2619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56834" y="2729967"/>
            <a:ext cx="5174333" cy="3117132"/>
            <a:chOff x="0" y="0"/>
            <a:chExt cx="1362787" cy="820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56834" y="6141168"/>
            <a:ext cx="5174333" cy="3117132"/>
            <a:chOff x="0" y="0"/>
            <a:chExt cx="1362787" cy="8209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5400000">
            <a:off x="12767154" y="-329762"/>
            <a:ext cx="5191085" cy="5850608"/>
          </a:xfrm>
          <a:custGeom>
            <a:avLst/>
            <a:gdLst/>
            <a:ahLst/>
            <a:cxnLst/>
            <a:rect l="l" t="t" r="r" b="b"/>
            <a:pathLst>
              <a:path w="5191085" h="5850608">
                <a:moveTo>
                  <a:pt x="0" y="0"/>
                </a:moveTo>
                <a:lnTo>
                  <a:pt x="5191084" y="0"/>
                </a:lnTo>
                <a:lnTo>
                  <a:pt x="5191084" y="5850608"/>
                </a:lnTo>
                <a:lnTo>
                  <a:pt x="0" y="5850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084967" y="2729967"/>
            <a:ext cx="5174333" cy="3117132"/>
            <a:chOff x="0" y="0"/>
            <a:chExt cx="1362787" cy="8209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84967" y="6141168"/>
            <a:ext cx="5174333" cy="3117132"/>
            <a:chOff x="0" y="0"/>
            <a:chExt cx="1362787" cy="8209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2729967"/>
            <a:ext cx="5174333" cy="3117132"/>
            <a:chOff x="0" y="0"/>
            <a:chExt cx="1362787" cy="8209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6141168"/>
            <a:ext cx="5174333" cy="3117132"/>
            <a:chOff x="0" y="0"/>
            <a:chExt cx="1362787" cy="8209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2787" cy="820973"/>
            </a:xfrm>
            <a:custGeom>
              <a:avLst/>
              <a:gdLst/>
              <a:ahLst/>
              <a:cxnLst/>
              <a:rect l="l" t="t" r="r" b="b"/>
              <a:pathLst>
                <a:path w="1362787" h="820973">
                  <a:moveTo>
                    <a:pt x="74811" y="0"/>
                  </a:moveTo>
                  <a:lnTo>
                    <a:pt x="1287976" y="0"/>
                  </a:lnTo>
                  <a:cubicBezTo>
                    <a:pt x="1329293" y="0"/>
                    <a:pt x="1362787" y="33494"/>
                    <a:pt x="1362787" y="74811"/>
                  </a:cubicBezTo>
                  <a:lnTo>
                    <a:pt x="1362787" y="746162"/>
                  </a:lnTo>
                  <a:cubicBezTo>
                    <a:pt x="1362787" y="787479"/>
                    <a:pt x="1329293" y="820973"/>
                    <a:pt x="1287976" y="820973"/>
                  </a:cubicBezTo>
                  <a:lnTo>
                    <a:pt x="74811" y="820973"/>
                  </a:lnTo>
                  <a:cubicBezTo>
                    <a:pt x="33494" y="820973"/>
                    <a:pt x="0" y="787479"/>
                    <a:pt x="0" y="746162"/>
                  </a:cubicBezTo>
                  <a:lnTo>
                    <a:pt x="0" y="74811"/>
                  </a:lnTo>
                  <a:cubicBezTo>
                    <a:pt x="0" y="33494"/>
                    <a:pt x="33494" y="0"/>
                    <a:pt x="74811" y="0"/>
                  </a:cubicBezTo>
                  <a:close/>
                </a:path>
              </a:pathLst>
            </a:custGeom>
            <a:solidFill>
              <a:srgbClr val="BBE5E1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1362787" cy="80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868673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 rot="-5400000" flipV="1">
            <a:off x="15600141" y="-1373025"/>
            <a:ext cx="1803811" cy="4610378"/>
          </a:xfrm>
          <a:custGeom>
            <a:avLst/>
            <a:gdLst/>
            <a:ahLst/>
            <a:cxnLst/>
            <a:rect l="l" t="t" r="r" b="b"/>
            <a:pathLst>
              <a:path w="1803811" h="4610378">
                <a:moveTo>
                  <a:pt x="0" y="4610378"/>
                </a:moveTo>
                <a:lnTo>
                  <a:pt x="1803810" y="4610378"/>
                </a:lnTo>
                <a:lnTo>
                  <a:pt x="1803810" y="0"/>
                </a:lnTo>
                <a:lnTo>
                  <a:pt x="0" y="0"/>
                </a:lnTo>
                <a:lnTo>
                  <a:pt x="0" y="4610378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800000">
            <a:off x="15974381" y="0"/>
            <a:ext cx="2313619" cy="1834069"/>
          </a:xfrm>
          <a:custGeom>
            <a:avLst/>
            <a:gdLst/>
            <a:ahLst/>
            <a:cxnLst/>
            <a:rect l="l" t="t" r="r" b="b"/>
            <a:pathLst>
              <a:path w="2313619" h="1834069">
                <a:moveTo>
                  <a:pt x="0" y="0"/>
                </a:moveTo>
                <a:lnTo>
                  <a:pt x="2313619" y="0"/>
                </a:lnTo>
                <a:lnTo>
                  <a:pt x="2313619" y="1834069"/>
                </a:lnTo>
                <a:lnTo>
                  <a:pt x="0" y="1834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989185" y="1587105"/>
            <a:ext cx="8309629" cy="8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Table of Content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09326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09326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47650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47650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09326" y="4371935"/>
            <a:ext cx="4192701" cy="85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Introduction &amp; Problem Context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509326" y="7770010"/>
            <a:ext cx="4192701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Forecasting Pipeline &amp; System Architecture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047650" y="4371935"/>
            <a:ext cx="3931794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Methodology – Data &amp; Feature Engineering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047650" y="7770010"/>
            <a:ext cx="41927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API Usage &amp; Integration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585974" y="3421758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85974" y="6819833"/>
            <a:ext cx="1610883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1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5974" y="4371935"/>
            <a:ext cx="4192701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Model Design &amp; Tuning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585974" y="7770010"/>
            <a:ext cx="3774050" cy="850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>
                <a:latin typeface="Bricolage Grotesque" panose="020B0604020202020204" charset="0"/>
              </a:rPr>
              <a:t>Evaluation, Insights &amp; Conclusion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48200" y="2705100"/>
            <a:ext cx="18497310" cy="12254468"/>
          </a:xfrm>
          <a:custGeom>
            <a:avLst/>
            <a:gdLst/>
            <a:ahLst/>
            <a:cxnLst/>
            <a:rect l="l" t="t" r="r" b="b"/>
            <a:pathLst>
              <a:path w="18497310" h="12254468">
                <a:moveTo>
                  <a:pt x="0" y="0"/>
                </a:moveTo>
                <a:lnTo>
                  <a:pt x="18497310" y="0"/>
                </a:lnTo>
                <a:lnTo>
                  <a:pt x="18497310" y="12254468"/>
                </a:lnTo>
                <a:lnTo>
                  <a:pt x="0" y="12254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80364" flipH="1">
            <a:off x="-3786892" y="-5142408"/>
            <a:ext cx="13625918" cy="12347811"/>
          </a:xfrm>
          <a:custGeom>
            <a:avLst/>
            <a:gdLst/>
            <a:ahLst/>
            <a:cxnLst/>
            <a:rect l="l" t="t" r="r" b="b"/>
            <a:pathLst>
              <a:path w="13625918" h="12347811">
                <a:moveTo>
                  <a:pt x="13625918" y="0"/>
                </a:moveTo>
                <a:lnTo>
                  <a:pt x="0" y="0"/>
                </a:lnTo>
                <a:lnTo>
                  <a:pt x="0" y="12347811"/>
                </a:lnTo>
                <a:lnTo>
                  <a:pt x="13625918" y="12347811"/>
                </a:lnTo>
                <a:lnTo>
                  <a:pt x="136259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19175" y="876300"/>
            <a:ext cx="8421295" cy="253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 smtClean="0">
                <a:latin typeface="Bricolage Grotesque" panose="020B0604020202020204" charset="0"/>
              </a:rPr>
              <a:t>Introduction </a:t>
            </a:r>
            <a:r>
              <a:rPr lang="en-US" sz="6000" b="1" dirty="0">
                <a:latin typeface="Bricolage Grotesque" panose="020B0604020202020204" charset="0"/>
              </a:rPr>
              <a:t>&amp; Problem Context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"/>
              <a:cs typeface="Bricolage Grotesque"/>
              <a:sym typeface="Bricolage Grotesque"/>
            </a:endParaRPr>
          </a:p>
          <a:p>
            <a:pPr algn="l">
              <a:lnSpc>
                <a:spcPts val="6600"/>
              </a:lnSpc>
            </a:pPr>
            <a:endParaRPr lang="en-US" sz="6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4800" y="3233912"/>
            <a:ext cx="13110159" cy="7140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Bricolage Grotesque" panose="020B0604020202020204" charset="0"/>
              </a:rPr>
              <a:t>Agrovia’s</a:t>
            </a:r>
            <a:r>
              <a:rPr lang="en-US" sz="3200" dirty="0">
                <a:latin typeface="Bricolage Grotesque" panose="020B0604020202020204" charset="0"/>
              </a:rPr>
              <a:t> weekly markets limit produce selling opportunities.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Freshness is critical—unsold produce leads to loss.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Magnus introduced </a:t>
            </a:r>
            <a:r>
              <a:rPr lang="en-US" sz="3200" dirty="0" err="1">
                <a:latin typeface="Bricolage Grotesque" panose="020B0604020202020204" charset="0"/>
              </a:rPr>
              <a:t>AgroChill</a:t>
            </a:r>
            <a:r>
              <a:rPr lang="en-US" sz="3200" dirty="0">
                <a:latin typeface="Bricolage Grotesque" panose="020B0604020202020204" charset="0"/>
              </a:rPr>
              <a:t>: cold storage to delay selling</a:t>
            </a:r>
            <a:r>
              <a:rPr lang="en-US" sz="3200" dirty="0" smtClean="0">
                <a:latin typeface="Bricolage Grotesque" panose="020B060402020202020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>
              <a:latin typeface="Bricolage Grotesque" panose="020B0604020202020204" charset="0"/>
            </a:endParaRPr>
          </a:p>
          <a:p>
            <a:r>
              <a:rPr lang="en-US" sz="3200" b="1" dirty="0">
                <a:latin typeface="Bricolage Grotesque" panose="020B0604020202020204" charset="0"/>
              </a:rPr>
              <a:t>Why Forecasting </a:t>
            </a:r>
            <a:r>
              <a:rPr lang="en-US" sz="3200" b="1" dirty="0" smtClean="0">
                <a:latin typeface="Bricolage Grotesque" panose="020B0604020202020204" charset="0"/>
              </a:rPr>
              <a:t>Matters ?</a:t>
            </a:r>
            <a:endParaRPr lang="en-US" sz="3200" b="1" dirty="0">
              <a:latin typeface="Bricolage Grotesque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Accurate price forecasting enables </a:t>
            </a:r>
            <a:r>
              <a:rPr lang="en-US" sz="3200" b="1" dirty="0">
                <a:latin typeface="Bricolage Grotesque" panose="020B0604020202020204" charset="0"/>
              </a:rPr>
              <a:t>data-driven selling decisions</a:t>
            </a:r>
            <a:r>
              <a:rPr lang="en-US" sz="3200" dirty="0">
                <a:latin typeface="Bricolage Grotesque" panose="020B060402020202020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Helps </a:t>
            </a:r>
            <a:r>
              <a:rPr lang="en-US" sz="3200" b="1" dirty="0">
                <a:latin typeface="Bricolage Grotesque" panose="020B0604020202020204" charset="0"/>
              </a:rPr>
              <a:t>maximize farmer revenue</a:t>
            </a:r>
            <a:r>
              <a:rPr lang="en-US" sz="3200" dirty="0">
                <a:latin typeface="Bricolage Grotesque" panose="020B0604020202020204" charset="0"/>
              </a:rPr>
              <a:t> and </a:t>
            </a:r>
            <a:r>
              <a:rPr lang="en-US" sz="3200" b="1" dirty="0">
                <a:latin typeface="Bricolage Grotesque" panose="020B0604020202020204" charset="0"/>
              </a:rPr>
              <a:t>reduce waste</a:t>
            </a:r>
            <a:r>
              <a:rPr lang="en-US" sz="3200" dirty="0" smtClean="0">
                <a:latin typeface="Bricolage Grotesque" panose="020B060402020202020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 smtClean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latin typeface="Bricolage Grotesque" panose="020B060402020202020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11"/>
          <a:srcRect r="3486"/>
          <a:stretch/>
        </p:blipFill>
        <p:spPr>
          <a:xfrm>
            <a:off x="13106400" y="3824908"/>
            <a:ext cx="5410199" cy="4442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8044903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400000">
            <a:off x="18531986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2254391" y="3264764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54391" y="4899423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54391" y="6565962"/>
            <a:ext cx="1558498" cy="1501190"/>
          </a:xfrm>
          <a:custGeom>
            <a:avLst/>
            <a:gdLst/>
            <a:ahLst/>
            <a:cxnLst/>
            <a:rect l="l" t="t" r="r" b="b"/>
            <a:pathLst>
              <a:path w="1558498" h="1501190">
                <a:moveTo>
                  <a:pt x="0" y="0"/>
                </a:moveTo>
                <a:lnTo>
                  <a:pt x="1558499" y="0"/>
                </a:lnTo>
                <a:lnTo>
                  <a:pt x="1558499" y="1501190"/>
                </a:lnTo>
                <a:lnTo>
                  <a:pt x="0" y="15011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14410256" y="-82400"/>
            <a:ext cx="5139831" cy="3624759"/>
          </a:xfrm>
          <a:custGeom>
            <a:avLst/>
            <a:gdLst/>
            <a:ahLst/>
            <a:cxnLst/>
            <a:rect l="l" t="t" r="r" b="b"/>
            <a:pathLst>
              <a:path w="5139831" h="3624759">
                <a:moveTo>
                  <a:pt x="0" y="0"/>
                </a:moveTo>
                <a:lnTo>
                  <a:pt x="5139830" y="0"/>
                </a:lnTo>
                <a:lnTo>
                  <a:pt x="5139830" y="3624760"/>
                </a:lnTo>
                <a:lnTo>
                  <a:pt x="0" y="36247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822" r="-113299" b="-12822"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-2020357" y="-82200"/>
            <a:ext cx="6053869" cy="3624759"/>
          </a:xfrm>
          <a:custGeom>
            <a:avLst/>
            <a:gdLst/>
            <a:ahLst/>
            <a:cxnLst/>
            <a:rect l="l" t="t" r="r" b="b"/>
            <a:pathLst>
              <a:path w="6053869" h="3624759">
                <a:moveTo>
                  <a:pt x="0" y="0"/>
                </a:moveTo>
                <a:lnTo>
                  <a:pt x="6053868" y="0"/>
                </a:lnTo>
                <a:lnTo>
                  <a:pt x="6053868" y="3624759"/>
                </a:lnTo>
                <a:lnTo>
                  <a:pt x="0" y="36247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3798" t="-13760" b="-13760"/>
            </a:stretch>
          </a:blipFill>
        </p:spPr>
      </p:sp>
      <p:sp>
        <p:nvSpPr>
          <p:cNvPr id="10" name="Freeform 10"/>
          <p:cNvSpPr/>
          <p:nvPr/>
        </p:nvSpPr>
        <p:spPr>
          <a:xfrm rot="130791" flipV="1">
            <a:off x="-700004" y="7726703"/>
            <a:ext cx="12990186" cy="5810156"/>
          </a:xfrm>
          <a:custGeom>
            <a:avLst/>
            <a:gdLst/>
            <a:ahLst/>
            <a:cxnLst/>
            <a:rect l="l" t="t" r="r" b="b"/>
            <a:pathLst>
              <a:path w="12990186" h="5810156">
                <a:moveTo>
                  <a:pt x="0" y="5810156"/>
                </a:moveTo>
                <a:lnTo>
                  <a:pt x="12990186" y="5810156"/>
                </a:lnTo>
                <a:lnTo>
                  <a:pt x="12990186" y="0"/>
                </a:lnTo>
                <a:lnTo>
                  <a:pt x="0" y="0"/>
                </a:lnTo>
                <a:lnTo>
                  <a:pt x="0" y="581015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72501" flipH="1" flipV="1">
            <a:off x="5587182" y="7100019"/>
            <a:ext cx="12990186" cy="5810156"/>
          </a:xfrm>
          <a:custGeom>
            <a:avLst/>
            <a:gdLst/>
            <a:ahLst/>
            <a:cxnLst/>
            <a:rect l="l" t="t" r="r" b="b"/>
            <a:pathLst>
              <a:path w="12990186" h="5810156">
                <a:moveTo>
                  <a:pt x="12990186" y="5810156"/>
                </a:moveTo>
                <a:lnTo>
                  <a:pt x="0" y="5810156"/>
                </a:lnTo>
                <a:lnTo>
                  <a:pt x="0" y="0"/>
                </a:lnTo>
                <a:lnTo>
                  <a:pt x="12990186" y="0"/>
                </a:lnTo>
                <a:lnTo>
                  <a:pt x="12990186" y="581015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20209" y="1587105"/>
            <a:ext cx="1204758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Objectives of Our System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70265" y="3748494"/>
            <a:ext cx="914746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predict </a:t>
            </a:r>
            <a:r>
              <a:rPr lang="en-US" sz="3200" b="1" dirty="0">
                <a:latin typeface="Bricolage Grotesque" panose="020B0604020202020204" charset="0"/>
              </a:rPr>
              <a:t>weekly produce prices 4 weeks in advance.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59596" y="3788759"/>
            <a:ext cx="1019976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14740" y="5536452"/>
            <a:ext cx="1109687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14740" y="7037642"/>
            <a:ext cx="1019976" cy="565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dirty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70265" y="5390499"/>
            <a:ext cx="9147469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support </a:t>
            </a:r>
            <a:r>
              <a:rPr lang="en-US" sz="3200" b="1" dirty="0">
                <a:latin typeface="Bricolage Grotesque" panose="020B0604020202020204" charset="0"/>
              </a:rPr>
              <a:t>strategic selling (fresh vs. frozen).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70265" y="7057884"/>
            <a:ext cx="1020791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200" b="1" dirty="0" smtClean="0">
                <a:latin typeface="Bricolage Grotesque" panose="020B0604020202020204" charset="0"/>
              </a:rPr>
              <a:t>To deliver </a:t>
            </a:r>
            <a:r>
              <a:rPr lang="en-US" sz="3200" b="1" dirty="0">
                <a:latin typeface="Bricolage Grotesque" panose="020B0604020202020204" charset="0"/>
              </a:rPr>
              <a:t>a lightweight, scalable, and reliable solution.</a:t>
            </a:r>
            <a:endParaRPr lang="en-US" sz="3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E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38025" y="-297365"/>
            <a:ext cx="9769067" cy="10881729"/>
          </a:xfrm>
          <a:custGeom>
            <a:avLst/>
            <a:gdLst/>
            <a:ahLst/>
            <a:cxnLst/>
            <a:rect l="l" t="t" r="r" b="b"/>
            <a:pathLst>
              <a:path w="9769067" h="10881729">
                <a:moveTo>
                  <a:pt x="9769067" y="0"/>
                </a:moveTo>
                <a:lnTo>
                  <a:pt x="0" y="0"/>
                </a:lnTo>
                <a:lnTo>
                  <a:pt x="0" y="10881730"/>
                </a:lnTo>
                <a:lnTo>
                  <a:pt x="9769067" y="10881730"/>
                </a:lnTo>
                <a:lnTo>
                  <a:pt x="97690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869430" y="-259265"/>
            <a:ext cx="12883997" cy="10287000"/>
            <a:chOff x="0" y="0"/>
            <a:chExt cx="339331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93316" cy="2709333"/>
            </a:xfrm>
            <a:custGeom>
              <a:avLst/>
              <a:gdLst/>
              <a:ahLst/>
              <a:cxnLst/>
              <a:rect l="l" t="t" r="r" b="b"/>
              <a:pathLst>
                <a:path w="3393316" h="2709333">
                  <a:moveTo>
                    <a:pt x="0" y="0"/>
                  </a:moveTo>
                  <a:lnTo>
                    <a:pt x="3393316" y="0"/>
                  </a:lnTo>
                  <a:lnTo>
                    <a:pt x="33933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3393316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18531986" y="-3124844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>
            <a:off x="15879278" y="-953552"/>
            <a:ext cx="2385472" cy="6097052"/>
          </a:xfrm>
          <a:custGeom>
            <a:avLst/>
            <a:gdLst/>
            <a:ahLst/>
            <a:cxnLst/>
            <a:rect l="l" t="t" r="r" b="b"/>
            <a:pathLst>
              <a:path w="2385472" h="6097052">
                <a:moveTo>
                  <a:pt x="0" y="0"/>
                </a:moveTo>
                <a:lnTo>
                  <a:pt x="2385472" y="0"/>
                </a:lnTo>
                <a:lnTo>
                  <a:pt x="2385472" y="6097052"/>
                </a:lnTo>
                <a:lnTo>
                  <a:pt x="0" y="60970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6788899">
            <a:off x="15007278" y="-599850"/>
            <a:ext cx="3056076" cy="3464611"/>
          </a:xfrm>
          <a:custGeom>
            <a:avLst/>
            <a:gdLst/>
            <a:ahLst/>
            <a:cxnLst/>
            <a:rect l="l" t="t" r="r" b="b"/>
            <a:pathLst>
              <a:path w="3056076" h="3464611">
                <a:moveTo>
                  <a:pt x="0" y="0"/>
                </a:moveTo>
                <a:lnTo>
                  <a:pt x="3056075" y="0"/>
                </a:lnTo>
                <a:lnTo>
                  <a:pt x="3056075" y="3464611"/>
                </a:lnTo>
                <a:lnTo>
                  <a:pt x="0" y="34646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424457" y="667123"/>
            <a:ext cx="12659108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Methodology – Data &amp; Feature Engineering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38025" y="2467364"/>
            <a:ext cx="13662582" cy="830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 Sources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Price Dataset: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Weekly prices by region and commodity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Weather Dataset: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Daily weather + yield impact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(resampled weekly)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Resampled weather data to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Interpolated missing values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Merged datasets on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region + week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Lag prices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(1–4 weeks)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Moving averages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(2–4 weeks)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Time-based features: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Week, month, season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Encoded variables: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Region, commodity type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Weather indicators: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Normalized + impact score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499252">
            <a:off x="-5052550" y="1626430"/>
            <a:ext cx="17138109" cy="15530559"/>
          </a:xfrm>
          <a:custGeom>
            <a:avLst/>
            <a:gdLst/>
            <a:ahLst/>
            <a:cxnLst/>
            <a:rect l="l" t="t" r="r" b="b"/>
            <a:pathLst>
              <a:path w="17138109" h="15530559">
                <a:moveTo>
                  <a:pt x="0" y="0"/>
                </a:moveTo>
                <a:lnTo>
                  <a:pt x="17138109" y="0"/>
                </a:lnTo>
                <a:lnTo>
                  <a:pt x="17138109" y="15530559"/>
                </a:lnTo>
                <a:lnTo>
                  <a:pt x="0" y="1553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93640">
            <a:off x="10904388" y="-8082420"/>
            <a:ext cx="9572030" cy="12716465"/>
          </a:xfrm>
          <a:custGeom>
            <a:avLst/>
            <a:gdLst/>
            <a:ahLst/>
            <a:cxnLst/>
            <a:rect l="l" t="t" r="r" b="b"/>
            <a:pathLst>
              <a:path w="9572030" h="12716465">
                <a:moveTo>
                  <a:pt x="0" y="0"/>
                </a:moveTo>
                <a:lnTo>
                  <a:pt x="9572030" y="0"/>
                </a:lnTo>
                <a:lnTo>
                  <a:pt x="9572030" y="12716465"/>
                </a:lnTo>
                <a:lnTo>
                  <a:pt x="0" y="127164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690003" y="5929914"/>
            <a:ext cx="4205311" cy="681299"/>
            <a:chOff x="0" y="0"/>
            <a:chExt cx="1107572" cy="1794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07572" cy="179437"/>
            </a:xfrm>
            <a:custGeom>
              <a:avLst/>
              <a:gdLst/>
              <a:ahLst/>
              <a:cxnLst/>
              <a:rect l="l" t="t" r="r" b="b"/>
              <a:pathLst>
                <a:path w="1107572" h="179437">
                  <a:moveTo>
                    <a:pt x="89718" y="0"/>
                  </a:moveTo>
                  <a:lnTo>
                    <a:pt x="1017853" y="0"/>
                  </a:lnTo>
                  <a:cubicBezTo>
                    <a:pt x="1041648" y="0"/>
                    <a:pt x="1064468" y="9452"/>
                    <a:pt x="1081294" y="26278"/>
                  </a:cubicBezTo>
                  <a:cubicBezTo>
                    <a:pt x="1098119" y="43103"/>
                    <a:pt x="1107572" y="65924"/>
                    <a:pt x="1107572" y="89718"/>
                  </a:cubicBezTo>
                  <a:lnTo>
                    <a:pt x="1107572" y="89718"/>
                  </a:lnTo>
                  <a:cubicBezTo>
                    <a:pt x="1107572" y="113513"/>
                    <a:pt x="1098119" y="136333"/>
                    <a:pt x="1081294" y="153159"/>
                  </a:cubicBezTo>
                  <a:cubicBezTo>
                    <a:pt x="1064468" y="169984"/>
                    <a:pt x="1041648" y="179437"/>
                    <a:pt x="1017853" y="179437"/>
                  </a:cubicBezTo>
                  <a:lnTo>
                    <a:pt x="89718" y="179437"/>
                  </a:lnTo>
                  <a:cubicBezTo>
                    <a:pt x="65924" y="179437"/>
                    <a:pt x="43103" y="169984"/>
                    <a:pt x="26278" y="153159"/>
                  </a:cubicBezTo>
                  <a:cubicBezTo>
                    <a:pt x="9452" y="136333"/>
                    <a:pt x="0" y="113513"/>
                    <a:pt x="0" y="89718"/>
                  </a:cubicBezTo>
                  <a:lnTo>
                    <a:pt x="0" y="89718"/>
                  </a:lnTo>
                  <a:cubicBezTo>
                    <a:pt x="0" y="65924"/>
                    <a:pt x="9452" y="43103"/>
                    <a:pt x="26278" y="26278"/>
                  </a:cubicBezTo>
                  <a:cubicBezTo>
                    <a:pt x="43103" y="9452"/>
                    <a:pt x="65924" y="0"/>
                    <a:pt x="897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107572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357508" y="8282512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-3563088" y="-8954960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3024377" y="6970068"/>
            <a:ext cx="5539020" cy="4357763"/>
          </a:xfrm>
          <a:custGeom>
            <a:avLst/>
            <a:gdLst/>
            <a:ahLst/>
            <a:cxnLst/>
            <a:rect l="l" t="t" r="r" b="b"/>
            <a:pathLst>
              <a:path w="5539020" h="4357763">
                <a:moveTo>
                  <a:pt x="0" y="0"/>
                </a:moveTo>
                <a:lnTo>
                  <a:pt x="5539020" y="0"/>
                </a:lnTo>
                <a:lnTo>
                  <a:pt x="5539020" y="4357763"/>
                </a:lnTo>
                <a:lnTo>
                  <a:pt x="0" y="4357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0875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393955" y="7334518"/>
            <a:ext cx="1894045" cy="2952482"/>
          </a:xfrm>
          <a:custGeom>
            <a:avLst/>
            <a:gdLst/>
            <a:ahLst/>
            <a:cxnLst/>
            <a:rect l="l" t="t" r="r" b="b"/>
            <a:pathLst>
              <a:path w="1894045" h="2952482">
                <a:moveTo>
                  <a:pt x="0" y="0"/>
                </a:moveTo>
                <a:lnTo>
                  <a:pt x="1894045" y="0"/>
                </a:lnTo>
                <a:lnTo>
                  <a:pt x="1894045" y="2952482"/>
                </a:lnTo>
                <a:lnTo>
                  <a:pt x="0" y="2952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74828" y="1269204"/>
            <a:ext cx="1470551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Model Design &amp; Tuning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77000" y="2772748"/>
            <a:ext cx="3923292" cy="43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dirty="0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 Chosen</a:t>
            </a:r>
            <a:endParaRPr lang="en-US" sz="3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248400" y="6075806"/>
            <a:ext cx="3923292" cy="43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dirty="0" smtClean="0">
                <a:solidFill>
                  <a:srgbClr val="01044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Tuning Strategy</a:t>
            </a:r>
            <a:endParaRPr lang="en-US" sz="3000" b="1" dirty="0">
              <a:solidFill>
                <a:srgbClr val="010440"/>
              </a:solidFill>
              <a:latin typeface="Bricolage Grotesque Bold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51346" y="3421257"/>
            <a:ext cx="850383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Bricolage Grotesque" panose="020B0604020202020204" charset="0"/>
              </a:rPr>
              <a:t>Model Chosen:</a:t>
            </a:r>
            <a:r>
              <a:rPr lang="en-US" sz="3200" dirty="0">
                <a:latin typeface="Bricolage Grotesque" panose="020B0604020202020204" charset="0"/>
              </a:rPr>
              <a:t> </a:t>
            </a:r>
            <a:r>
              <a:rPr lang="en-US" sz="3200" dirty="0" err="1" smtClean="0">
                <a:latin typeface="Bricolage Grotesque" panose="020B0604020202020204" charset="0"/>
              </a:rPr>
              <a:t>XGBoost</a:t>
            </a:r>
            <a:r>
              <a:rPr lang="en-US" sz="3200" dirty="0" smtClean="0">
                <a:latin typeface="Bricolage Grotesque" panose="020B0604020202020204" charset="0"/>
              </a:rPr>
              <a:t> </a:t>
            </a:r>
            <a:r>
              <a:rPr lang="en-US" sz="3200" dirty="0" err="1" smtClean="0">
                <a:latin typeface="Bricolage Grotesque" panose="020B0604020202020204" charset="0"/>
              </a:rPr>
              <a:t>Regressor</a:t>
            </a:r>
            <a:endParaRPr lang="en-US" sz="3200" dirty="0">
              <a:latin typeface="Bricolage Grotesque" panose="020B060402020202020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High accuracy, low memory use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Suitable for tabular + </a:t>
            </a:r>
            <a:r>
              <a:rPr lang="en-US" sz="3200" dirty="0" smtClean="0">
                <a:latin typeface="Bricolage Grotesque" panose="020B0604020202020204" charset="0"/>
              </a:rPr>
              <a:t>large datasets</a:t>
            </a:r>
            <a:endParaRPr lang="en-US" sz="3200" dirty="0">
              <a:latin typeface="Bricolage Grotesque" panose="020B0604020202020204" charset="0"/>
            </a:endParaRPr>
          </a:p>
        </p:txBody>
      </p:sp>
      <p:sp>
        <p:nvSpPr>
          <p:cNvPr id="30" name="Freeform 30"/>
          <p:cNvSpPr/>
          <p:nvPr/>
        </p:nvSpPr>
        <p:spPr>
          <a:xfrm rot="-5522571">
            <a:off x="116826" y="-2133638"/>
            <a:ext cx="2488891" cy="4224427"/>
          </a:xfrm>
          <a:custGeom>
            <a:avLst/>
            <a:gdLst/>
            <a:ahLst/>
            <a:cxnLst/>
            <a:rect l="l" t="t" r="r" b="b"/>
            <a:pathLst>
              <a:path w="2488891" h="4224427">
                <a:moveTo>
                  <a:pt x="0" y="0"/>
                </a:moveTo>
                <a:lnTo>
                  <a:pt x="2488892" y="0"/>
                </a:lnTo>
                <a:lnTo>
                  <a:pt x="2488892" y="4224427"/>
                </a:lnTo>
                <a:lnTo>
                  <a:pt x="0" y="42244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-569797" y="-591905"/>
            <a:ext cx="2344625" cy="2588623"/>
          </a:xfrm>
          <a:custGeom>
            <a:avLst/>
            <a:gdLst/>
            <a:ahLst/>
            <a:cxnLst/>
            <a:rect l="l" t="t" r="r" b="b"/>
            <a:pathLst>
              <a:path w="2344625" h="2588623">
                <a:moveTo>
                  <a:pt x="0" y="0"/>
                </a:moveTo>
                <a:lnTo>
                  <a:pt x="2344625" y="0"/>
                </a:lnTo>
                <a:lnTo>
                  <a:pt x="2344625" y="2588622"/>
                </a:lnTo>
                <a:lnTo>
                  <a:pt x="0" y="25886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33" name="Group 8"/>
          <p:cNvGrpSpPr/>
          <p:nvPr/>
        </p:nvGrpSpPr>
        <p:grpSpPr>
          <a:xfrm>
            <a:off x="5713194" y="2608959"/>
            <a:ext cx="4205311" cy="681299"/>
            <a:chOff x="0" y="0"/>
            <a:chExt cx="1107572" cy="179437"/>
          </a:xfrm>
        </p:grpSpPr>
        <p:sp>
          <p:nvSpPr>
            <p:cNvPr id="34" name="Freeform 9"/>
            <p:cNvSpPr/>
            <p:nvPr/>
          </p:nvSpPr>
          <p:spPr>
            <a:xfrm>
              <a:off x="0" y="0"/>
              <a:ext cx="1107572" cy="179437"/>
            </a:xfrm>
            <a:custGeom>
              <a:avLst/>
              <a:gdLst/>
              <a:ahLst/>
              <a:cxnLst/>
              <a:rect l="l" t="t" r="r" b="b"/>
              <a:pathLst>
                <a:path w="1107572" h="179437">
                  <a:moveTo>
                    <a:pt x="89718" y="0"/>
                  </a:moveTo>
                  <a:lnTo>
                    <a:pt x="1017853" y="0"/>
                  </a:lnTo>
                  <a:cubicBezTo>
                    <a:pt x="1041648" y="0"/>
                    <a:pt x="1064468" y="9452"/>
                    <a:pt x="1081294" y="26278"/>
                  </a:cubicBezTo>
                  <a:cubicBezTo>
                    <a:pt x="1098119" y="43103"/>
                    <a:pt x="1107572" y="65924"/>
                    <a:pt x="1107572" y="89718"/>
                  </a:cubicBezTo>
                  <a:lnTo>
                    <a:pt x="1107572" y="89718"/>
                  </a:lnTo>
                  <a:cubicBezTo>
                    <a:pt x="1107572" y="113513"/>
                    <a:pt x="1098119" y="136333"/>
                    <a:pt x="1081294" y="153159"/>
                  </a:cubicBezTo>
                  <a:cubicBezTo>
                    <a:pt x="1064468" y="169984"/>
                    <a:pt x="1041648" y="179437"/>
                    <a:pt x="1017853" y="179437"/>
                  </a:cubicBezTo>
                  <a:lnTo>
                    <a:pt x="89718" y="179437"/>
                  </a:lnTo>
                  <a:cubicBezTo>
                    <a:pt x="65924" y="179437"/>
                    <a:pt x="43103" y="169984"/>
                    <a:pt x="26278" y="153159"/>
                  </a:cubicBezTo>
                  <a:cubicBezTo>
                    <a:pt x="9452" y="136333"/>
                    <a:pt x="0" y="113513"/>
                    <a:pt x="0" y="89718"/>
                  </a:cubicBezTo>
                  <a:lnTo>
                    <a:pt x="0" y="89718"/>
                  </a:lnTo>
                  <a:cubicBezTo>
                    <a:pt x="0" y="65924"/>
                    <a:pt x="9452" y="43103"/>
                    <a:pt x="26278" y="26278"/>
                  </a:cubicBezTo>
                  <a:cubicBezTo>
                    <a:pt x="43103" y="9452"/>
                    <a:pt x="65924" y="0"/>
                    <a:pt x="897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10"/>
            <p:cNvSpPr txBox="1"/>
            <p:nvPr/>
          </p:nvSpPr>
          <p:spPr>
            <a:xfrm>
              <a:off x="0" y="19050"/>
              <a:ext cx="1107572" cy="16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0" y="-300307"/>
            <a:ext cx="193465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-181676" y="7013056"/>
            <a:ext cx="117897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Bricolage Grotesque" panose="020B0604020202020204" charset="0"/>
              </a:rPr>
              <a:t>Grid search (e.g., </a:t>
            </a:r>
            <a:r>
              <a:rPr lang="en-US" altLang="en-US" sz="3200" dirty="0" err="1">
                <a:latin typeface="Bricolage Grotesque" panose="020B0604020202020204" charset="0"/>
              </a:rPr>
              <a:t>num_leaves</a:t>
            </a:r>
            <a:r>
              <a:rPr lang="en-US" altLang="en-US" sz="3200" dirty="0">
                <a:latin typeface="Bricolage Grotesque" panose="020B0604020202020204" charset="0"/>
              </a:rPr>
              <a:t>, </a:t>
            </a:r>
            <a:r>
              <a:rPr lang="en-US" altLang="en-US" sz="3200" dirty="0" err="1">
                <a:latin typeface="Bricolage Grotesque" panose="020B0604020202020204" charset="0"/>
              </a:rPr>
              <a:t>max_depth</a:t>
            </a:r>
            <a:r>
              <a:rPr lang="en-US" altLang="en-US" sz="3200" dirty="0">
                <a:latin typeface="Bricolage Grotesque" panose="020B0604020202020204" charset="0"/>
              </a:rPr>
              <a:t>, </a:t>
            </a:r>
            <a:r>
              <a:rPr lang="en-US" altLang="en-US" sz="3200" dirty="0" err="1">
                <a:latin typeface="Bricolage Grotesque" panose="020B0604020202020204" charset="0"/>
              </a:rPr>
              <a:t>learning_rate</a:t>
            </a:r>
            <a:r>
              <a:rPr lang="en-US" altLang="en-US" sz="3200" dirty="0">
                <a:latin typeface="Bricolage Grotesque" panose="020B0604020202020204" charset="0"/>
              </a:rPr>
              <a:t>)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Bricolage Grotesque" panose="020B0604020202020204" charset="0"/>
              </a:rPr>
              <a:t>Evaluation metric: RMSE</a:t>
            </a:r>
          </a:p>
          <a:p>
            <a:pPr marL="914400" lvl="1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Bricolage Grotesque" panose="020B0604020202020204" charset="0"/>
              </a:rPr>
              <a:t>Apply time-based cross-validation and stop training when validation error stops improving.</a:t>
            </a:r>
            <a:endParaRPr lang="en-US" dirty="0">
              <a:latin typeface="Bricolage Grotesque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5598">
            <a:off x="9884877" y="-4021804"/>
            <a:ext cx="13542461" cy="12951517"/>
          </a:xfrm>
          <a:custGeom>
            <a:avLst/>
            <a:gdLst/>
            <a:ahLst/>
            <a:cxnLst/>
            <a:rect l="l" t="t" r="r" b="b"/>
            <a:pathLst>
              <a:path w="13542461" h="12951517">
                <a:moveTo>
                  <a:pt x="0" y="0"/>
                </a:moveTo>
                <a:lnTo>
                  <a:pt x="13542461" y="0"/>
                </a:lnTo>
                <a:lnTo>
                  <a:pt x="13542461" y="12951517"/>
                </a:lnTo>
                <a:lnTo>
                  <a:pt x="0" y="12951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0407894">
            <a:off x="-5079609" y="1013507"/>
            <a:ext cx="15382623" cy="14711381"/>
          </a:xfrm>
          <a:custGeom>
            <a:avLst/>
            <a:gdLst/>
            <a:ahLst/>
            <a:cxnLst/>
            <a:rect l="l" t="t" r="r" b="b"/>
            <a:pathLst>
              <a:path w="15382623" h="14711381">
                <a:moveTo>
                  <a:pt x="0" y="0"/>
                </a:moveTo>
                <a:lnTo>
                  <a:pt x="15382623" y="0"/>
                </a:lnTo>
                <a:lnTo>
                  <a:pt x="15382623" y="14711381"/>
                </a:lnTo>
                <a:lnTo>
                  <a:pt x="0" y="1471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-2881301" y="-787313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 rot="5400000">
            <a:off x="13349299" y="-787313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-5400000">
            <a:off x="1479223" y="-1476678"/>
            <a:ext cx="1901424" cy="4859870"/>
          </a:xfrm>
          <a:custGeom>
            <a:avLst/>
            <a:gdLst/>
            <a:ahLst/>
            <a:cxnLst/>
            <a:rect l="l" t="t" r="r" b="b"/>
            <a:pathLst>
              <a:path w="1901424" h="4859870">
                <a:moveTo>
                  <a:pt x="0" y="0"/>
                </a:moveTo>
                <a:lnTo>
                  <a:pt x="1901424" y="0"/>
                </a:lnTo>
                <a:lnTo>
                  <a:pt x="1901424" y="4859871"/>
                </a:lnTo>
                <a:lnTo>
                  <a:pt x="0" y="48598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9411100">
            <a:off x="444749" y="256"/>
            <a:ext cx="2435953" cy="2761590"/>
          </a:xfrm>
          <a:custGeom>
            <a:avLst/>
            <a:gdLst/>
            <a:ahLst/>
            <a:cxnLst/>
            <a:rect l="l" t="t" r="r" b="b"/>
            <a:pathLst>
              <a:path w="2435953" h="2761590">
                <a:moveTo>
                  <a:pt x="0" y="0"/>
                </a:moveTo>
                <a:lnTo>
                  <a:pt x="2435953" y="0"/>
                </a:lnTo>
                <a:lnTo>
                  <a:pt x="2435953" y="2761591"/>
                </a:lnTo>
                <a:lnTo>
                  <a:pt x="0" y="27615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1355769">
            <a:off x="14807406" y="-2191257"/>
            <a:ext cx="2872950" cy="4876294"/>
          </a:xfrm>
          <a:custGeom>
            <a:avLst/>
            <a:gdLst/>
            <a:ahLst/>
            <a:cxnLst/>
            <a:rect l="l" t="t" r="r" b="b"/>
            <a:pathLst>
              <a:path w="2872950" h="4876294">
                <a:moveTo>
                  <a:pt x="0" y="0"/>
                </a:moveTo>
                <a:lnTo>
                  <a:pt x="2872950" y="0"/>
                </a:lnTo>
                <a:lnTo>
                  <a:pt x="2872950" y="4876294"/>
                </a:lnTo>
                <a:lnTo>
                  <a:pt x="0" y="48762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232853" y="1427508"/>
            <a:ext cx="14110231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Forecasting Pipeline &amp; System Architecture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8" name="Freeform 28"/>
          <p:cNvSpPr/>
          <p:nvPr/>
        </p:nvSpPr>
        <p:spPr>
          <a:xfrm flipH="1">
            <a:off x="12862355" y="15568"/>
            <a:ext cx="3463436" cy="1523912"/>
          </a:xfrm>
          <a:custGeom>
            <a:avLst/>
            <a:gdLst/>
            <a:ahLst/>
            <a:cxnLst/>
            <a:rect l="l" t="t" r="r" b="b"/>
            <a:pathLst>
              <a:path w="3463436" h="1523912">
                <a:moveTo>
                  <a:pt x="3463435" y="0"/>
                </a:moveTo>
                <a:lnTo>
                  <a:pt x="0" y="0"/>
                </a:lnTo>
                <a:lnTo>
                  <a:pt x="0" y="1523912"/>
                </a:lnTo>
                <a:lnTo>
                  <a:pt x="3463435" y="1523912"/>
                </a:lnTo>
                <a:lnTo>
                  <a:pt x="3463435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5668030">
            <a:off x="16611474" y="19840"/>
            <a:ext cx="2176499" cy="2017720"/>
          </a:xfrm>
          <a:custGeom>
            <a:avLst/>
            <a:gdLst/>
            <a:ahLst/>
            <a:cxnLst/>
            <a:rect l="l" t="t" r="r" b="b"/>
            <a:pathLst>
              <a:path w="2176499" h="2017720">
                <a:moveTo>
                  <a:pt x="0" y="0"/>
                </a:moveTo>
                <a:lnTo>
                  <a:pt x="2176499" y="0"/>
                </a:lnTo>
                <a:lnTo>
                  <a:pt x="2176499" y="2017720"/>
                </a:lnTo>
                <a:lnTo>
                  <a:pt x="0" y="20177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1238369">
            <a:off x="-967588" y="-464819"/>
            <a:ext cx="2344625" cy="2588623"/>
          </a:xfrm>
          <a:custGeom>
            <a:avLst/>
            <a:gdLst/>
            <a:ahLst/>
            <a:cxnLst/>
            <a:rect l="l" t="t" r="r" b="b"/>
            <a:pathLst>
              <a:path w="2344625" h="2588623">
                <a:moveTo>
                  <a:pt x="0" y="0"/>
                </a:moveTo>
                <a:lnTo>
                  <a:pt x="2344624" y="0"/>
                </a:lnTo>
                <a:lnTo>
                  <a:pt x="2344624" y="2588622"/>
                </a:lnTo>
                <a:lnTo>
                  <a:pt x="0" y="258862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1" name="TextBox 30"/>
          <p:cNvSpPr txBox="1"/>
          <p:nvPr/>
        </p:nvSpPr>
        <p:spPr>
          <a:xfrm>
            <a:off x="1014461" y="2973361"/>
            <a:ext cx="1424940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Rolling Forecasting Logic: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Predict Weeks N+1 to N+4 at each </a:t>
            </a:r>
            <a:r>
              <a:rPr lang="en-US" altLang="en-US" sz="3200" dirty="0" err="1">
                <a:latin typeface="Arial" panose="020B0604020202020204" pitchFamily="34" charset="0"/>
              </a:rPr>
              <a:t>timestep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Shift window weekly as new data arrives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Supports retraining and model updates</a:t>
            </a:r>
          </a:p>
          <a:p>
            <a:pPr marL="571500" lvl="0" indent="-5715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Architecture: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err="1">
                <a:latin typeface="Arial" panose="020B0604020202020204" pitchFamily="34" charset="0"/>
              </a:rPr>
              <a:t>FastAPI</a:t>
            </a:r>
            <a:r>
              <a:rPr lang="en-US" altLang="en-US" sz="3200" dirty="0">
                <a:latin typeface="Arial" panose="020B0604020202020204" pitchFamily="34" charset="0"/>
              </a:rPr>
              <a:t> server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Docker container (1.2GB)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Model and feature pipeline modules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Input/output via REST APIs</a:t>
            </a:r>
          </a:p>
        </p:txBody>
      </p:sp>
      <p:sp>
        <p:nvSpPr>
          <p:cNvPr id="34" name="Rectangle 3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286668">
            <a:off x="3464786" y="-4960176"/>
            <a:ext cx="10805760" cy="11562583"/>
          </a:xfrm>
          <a:custGeom>
            <a:avLst/>
            <a:gdLst/>
            <a:ahLst/>
            <a:cxnLst/>
            <a:rect l="l" t="t" r="r" b="b"/>
            <a:pathLst>
              <a:path w="10805760" h="11562583">
                <a:moveTo>
                  <a:pt x="0" y="0"/>
                </a:moveTo>
                <a:lnTo>
                  <a:pt x="10805760" y="0"/>
                </a:lnTo>
                <a:lnTo>
                  <a:pt x="10805760" y="11562583"/>
                </a:lnTo>
                <a:lnTo>
                  <a:pt x="0" y="11562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6382061"/>
            <a:ext cx="4301456" cy="3904939"/>
          </a:xfrm>
          <a:custGeom>
            <a:avLst/>
            <a:gdLst/>
            <a:ahLst/>
            <a:cxnLst/>
            <a:rect l="l" t="t" r="r" b="b"/>
            <a:pathLst>
              <a:path w="4301456" h="3904939">
                <a:moveTo>
                  <a:pt x="0" y="0"/>
                </a:moveTo>
                <a:lnTo>
                  <a:pt x="4301456" y="0"/>
                </a:lnTo>
                <a:lnTo>
                  <a:pt x="4301456" y="3904939"/>
                </a:lnTo>
                <a:lnTo>
                  <a:pt x="0" y="390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3986544" y="6382061"/>
            <a:ext cx="4301456" cy="3904939"/>
          </a:xfrm>
          <a:custGeom>
            <a:avLst/>
            <a:gdLst/>
            <a:ahLst/>
            <a:cxnLst/>
            <a:rect l="l" t="t" r="r" b="b"/>
            <a:pathLst>
              <a:path w="4301456" h="3904939">
                <a:moveTo>
                  <a:pt x="4301456" y="0"/>
                </a:moveTo>
                <a:lnTo>
                  <a:pt x="0" y="0"/>
                </a:lnTo>
                <a:lnTo>
                  <a:pt x="0" y="3904939"/>
                </a:lnTo>
                <a:lnTo>
                  <a:pt x="4301456" y="3904939"/>
                </a:lnTo>
                <a:lnTo>
                  <a:pt x="43014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957665" y="934396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2" y="0"/>
                </a:lnTo>
                <a:lnTo>
                  <a:pt x="7820002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677982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3226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05233" y="1587105"/>
            <a:ext cx="13277534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API Usage &amp; Integration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0" name="Freeform 20"/>
          <p:cNvSpPr/>
          <p:nvPr/>
        </p:nvSpPr>
        <p:spPr>
          <a:xfrm rot="-4323132">
            <a:off x="5712441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42896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7"/>
          <p:cNvSpPr txBox="1"/>
          <p:nvPr/>
        </p:nvSpPr>
        <p:spPr>
          <a:xfrm>
            <a:off x="1679713" y="2797955"/>
            <a:ext cx="1279828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600" b="1" dirty="0">
                <a:latin typeface="Arial" panose="020B0604020202020204" pitchFamily="34" charset="0"/>
              </a:rPr>
              <a:t>API Endpoints</a:t>
            </a:r>
            <a:r>
              <a:rPr lang="en-US" altLang="en-US" sz="3600" b="1" dirty="0" smtClean="0">
                <a:latin typeface="Arial" panose="020B0604020202020204" pitchFamily="34" charset="0"/>
              </a:rPr>
              <a:t>: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GET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predict?commodity</a:t>
            </a:r>
            <a:r>
              <a:rPr lang="en-US" altLang="en-US" sz="3200" dirty="0">
                <a:latin typeface="Arial Unicode MS" panose="020B0604020202020204" pitchFamily="34" charset="-128"/>
              </a:rPr>
              <a:t>=&amp;region=</a:t>
            </a:r>
            <a:r>
              <a:rPr lang="en-US" altLang="en-US" sz="3200" dirty="0"/>
              <a:t> → returns 4-week price forecast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POST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add_weather_data</a:t>
            </a:r>
            <a:r>
              <a:rPr lang="en-US" altLang="en-US" sz="3200" dirty="0"/>
              <a:t> → adds new weather data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 Unicode MS" panose="020B0604020202020204" pitchFamily="34" charset="-128"/>
              </a:rPr>
              <a:t>POST /</a:t>
            </a:r>
            <a:r>
              <a:rPr lang="en-US" altLang="en-US" sz="3200" dirty="0" err="1">
                <a:latin typeface="Arial Unicode MS" panose="020B0604020202020204" pitchFamily="34" charset="-128"/>
              </a:rPr>
              <a:t>add_price_data</a:t>
            </a:r>
            <a:r>
              <a:rPr lang="en-US" altLang="en-US" sz="3200" dirty="0"/>
              <a:t> → adds new price data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JSON-based input/output for easy integration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Input validation and error handling included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393532">
            <a:off x="-12188114" y="2677396"/>
            <a:ext cx="15913620" cy="15219208"/>
          </a:xfrm>
          <a:custGeom>
            <a:avLst/>
            <a:gdLst/>
            <a:ahLst/>
            <a:cxnLst/>
            <a:rect l="l" t="t" r="r" b="b"/>
            <a:pathLst>
              <a:path w="15913620" h="15219208">
                <a:moveTo>
                  <a:pt x="0" y="0"/>
                </a:moveTo>
                <a:lnTo>
                  <a:pt x="15913620" y="0"/>
                </a:lnTo>
                <a:lnTo>
                  <a:pt x="15913620" y="15219208"/>
                </a:lnTo>
                <a:lnTo>
                  <a:pt x="0" y="15219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96616">
            <a:off x="11056156" y="-4788389"/>
            <a:ext cx="11219403" cy="10729829"/>
          </a:xfrm>
          <a:custGeom>
            <a:avLst/>
            <a:gdLst/>
            <a:ahLst/>
            <a:cxnLst/>
            <a:rect l="l" t="t" r="r" b="b"/>
            <a:pathLst>
              <a:path w="11219403" h="10729829">
                <a:moveTo>
                  <a:pt x="0" y="0"/>
                </a:moveTo>
                <a:lnTo>
                  <a:pt x="11219403" y="0"/>
                </a:lnTo>
                <a:lnTo>
                  <a:pt x="11219403" y="10729829"/>
                </a:lnTo>
                <a:lnTo>
                  <a:pt x="0" y="10729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-7872579" y="283711"/>
            <a:ext cx="7820002" cy="9983660"/>
          </a:xfrm>
          <a:custGeom>
            <a:avLst/>
            <a:gdLst/>
            <a:ahLst/>
            <a:cxnLst/>
            <a:rect l="l" t="t" r="r" b="b"/>
            <a:pathLst>
              <a:path w="7820002" h="9983660">
                <a:moveTo>
                  <a:pt x="0" y="0"/>
                </a:moveTo>
                <a:lnTo>
                  <a:pt x="7820003" y="0"/>
                </a:lnTo>
                <a:lnTo>
                  <a:pt x="7820003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r="-27668"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rot="-5400000">
            <a:off x="20675427" y="2705004"/>
            <a:ext cx="3150302" cy="9983660"/>
          </a:xfrm>
          <a:custGeom>
            <a:avLst/>
            <a:gdLst/>
            <a:ahLst/>
            <a:cxnLst/>
            <a:rect l="l" t="t" r="r" b="b"/>
            <a:pathLst>
              <a:path w="3150302" h="9983660">
                <a:moveTo>
                  <a:pt x="0" y="0"/>
                </a:moveTo>
                <a:lnTo>
                  <a:pt x="3150301" y="0"/>
                </a:lnTo>
                <a:lnTo>
                  <a:pt x="3150301" y="9983660"/>
                </a:lnTo>
                <a:lnTo>
                  <a:pt x="0" y="998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r="-216911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 rot="5400000">
            <a:off x="-2174289" y="3631679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2267"/>
            </a:stretch>
          </a:blipFill>
        </p:spPr>
      </p:sp>
      <p:sp>
        <p:nvSpPr>
          <p:cNvPr id="16" name="Freeform 16"/>
          <p:cNvSpPr/>
          <p:nvPr/>
        </p:nvSpPr>
        <p:spPr>
          <a:xfrm rot="1076867">
            <a:off x="-1110794" y="2051774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-1110795" y="6756772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397425" y="6969872"/>
            <a:ext cx="2163009" cy="3371750"/>
          </a:xfrm>
          <a:custGeom>
            <a:avLst/>
            <a:gdLst/>
            <a:ahLst/>
            <a:cxnLst/>
            <a:rect l="l" t="t" r="r" b="b"/>
            <a:pathLst>
              <a:path w="2163009" h="3371750">
                <a:moveTo>
                  <a:pt x="0" y="0"/>
                </a:moveTo>
                <a:lnTo>
                  <a:pt x="2163009" y="0"/>
                </a:lnTo>
                <a:lnTo>
                  <a:pt x="2163009" y="3371750"/>
                </a:lnTo>
                <a:lnTo>
                  <a:pt x="0" y="33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58580" y="519153"/>
            <a:ext cx="1483884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Evaluation, Insights &amp; Conclusion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11684" y="2192951"/>
            <a:ext cx="13411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 smtClean="0">
                <a:latin typeface="Arial" panose="020B0604020202020204" pitchFamily="34" charset="0"/>
              </a:rPr>
              <a:t>Performance</a:t>
            </a:r>
            <a:r>
              <a:rPr lang="en-US" altLang="en-US" sz="3200" b="1" dirty="0">
                <a:latin typeface="Arial" panose="020B0604020202020204" pitchFamily="34" charset="0"/>
              </a:rPr>
              <a:t>: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RMSE: [Insert value]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Latency: ~120ms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Memory: ~1.5 GB peak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200" b="1" dirty="0">
                <a:latin typeface="Arial" panose="020B0604020202020204" pitchFamily="34" charset="0"/>
              </a:rPr>
              <a:t>Challenges: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Temporal data alignment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Cold start for sparse commodities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Memory and processing limitations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  <a:p>
            <a:endParaRPr lang="en-US" sz="3200" dirty="0"/>
          </a:p>
        </p:txBody>
      </p:sp>
      <p:sp>
        <p:nvSpPr>
          <p:cNvPr id="2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72579">
            <a:off x="4840438" y="-3152401"/>
            <a:ext cx="17824581" cy="15102281"/>
          </a:xfrm>
          <a:custGeom>
            <a:avLst/>
            <a:gdLst/>
            <a:ahLst/>
            <a:cxnLst/>
            <a:rect l="l" t="t" r="r" b="b"/>
            <a:pathLst>
              <a:path w="17824581" h="15102281">
                <a:moveTo>
                  <a:pt x="0" y="0"/>
                </a:moveTo>
                <a:lnTo>
                  <a:pt x="17824581" y="0"/>
                </a:lnTo>
                <a:lnTo>
                  <a:pt x="17824581" y="15102282"/>
                </a:lnTo>
                <a:lnTo>
                  <a:pt x="0" y="1510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10695">
            <a:off x="12118145" y="-2317873"/>
            <a:ext cx="8564472" cy="8496423"/>
          </a:xfrm>
          <a:custGeom>
            <a:avLst/>
            <a:gdLst/>
            <a:ahLst/>
            <a:cxnLst/>
            <a:rect l="l" t="t" r="r" b="b"/>
            <a:pathLst>
              <a:path w="8564472" h="8496423">
                <a:moveTo>
                  <a:pt x="0" y="0"/>
                </a:moveTo>
                <a:lnTo>
                  <a:pt x="8564473" y="0"/>
                </a:lnTo>
                <a:lnTo>
                  <a:pt x="8564473" y="8496423"/>
                </a:lnTo>
                <a:lnTo>
                  <a:pt x="0" y="849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03945" y="1935416"/>
            <a:ext cx="8656915" cy="8263419"/>
          </a:xfrm>
          <a:custGeom>
            <a:avLst/>
            <a:gdLst/>
            <a:ahLst/>
            <a:cxnLst/>
            <a:rect l="l" t="t" r="r" b="b"/>
            <a:pathLst>
              <a:path w="8656915" h="8263419">
                <a:moveTo>
                  <a:pt x="0" y="0"/>
                </a:moveTo>
                <a:lnTo>
                  <a:pt x="8656915" y="0"/>
                </a:lnTo>
                <a:lnTo>
                  <a:pt x="8656915" y="8263419"/>
                </a:lnTo>
                <a:lnTo>
                  <a:pt x="0" y="8263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398740"/>
            <a:ext cx="5882081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dirty="0">
              <a:solidFill>
                <a:srgbClr val="01044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Freeform 16"/>
          <p:cNvSpPr/>
          <p:nvPr/>
        </p:nvSpPr>
        <p:spPr>
          <a:xfrm rot="5400000">
            <a:off x="-622455" y="9926719"/>
            <a:ext cx="7820002" cy="6575093"/>
          </a:xfrm>
          <a:custGeom>
            <a:avLst/>
            <a:gdLst/>
            <a:ahLst/>
            <a:cxnLst/>
            <a:rect l="l" t="t" r="r" b="b"/>
            <a:pathLst>
              <a:path w="7820002" h="6575093">
                <a:moveTo>
                  <a:pt x="0" y="0"/>
                </a:moveTo>
                <a:lnTo>
                  <a:pt x="7820002" y="0"/>
                </a:lnTo>
                <a:lnTo>
                  <a:pt x="7820002" y="6575092"/>
                </a:lnTo>
                <a:lnTo>
                  <a:pt x="0" y="6575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r="-27668" b="-51840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226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64914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272088" y="2278106"/>
            <a:ext cx="99184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>
                <a:latin typeface="Arial" panose="020B0604020202020204" pitchFamily="34" charset="0"/>
              </a:rPr>
              <a:t>Strategic Insights: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Use forecasts to optimize freezing vs. selling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Identify regional and seasonal price </a:t>
            </a:r>
            <a:r>
              <a:rPr lang="en-US" altLang="en-US" sz="3200" dirty="0" smtClean="0">
                <a:latin typeface="Arial" panose="020B0604020202020204" pitchFamily="34" charset="0"/>
              </a:rPr>
              <a:t>peaks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 dirty="0" smtClean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000" b="1" dirty="0" smtClean="0">
                <a:latin typeface="Arial" panose="020B0604020202020204" pitchFamily="34" charset="0"/>
              </a:rPr>
              <a:t>Conclusion:</a:t>
            </a:r>
            <a:endParaRPr lang="en-US" altLang="en-US" sz="4000" b="1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 smtClean="0">
                <a:latin typeface="Arial" panose="020B0604020202020204" pitchFamily="34" charset="0"/>
              </a:rPr>
              <a:t>Engine </a:t>
            </a:r>
            <a:r>
              <a:rPr lang="en-US" altLang="en-US" sz="3200" dirty="0">
                <a:latin typeface="Arial" panose="020B0604020202020204" pitchFamily="34" charset="0"/>
              </a:rPr>
              <a:t>meets goals with low-resource design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Arial" panose="020B0604020202020204" pitchFamily="34" charset="0"/>
              </a:rPr>
              <a:t>Supports future scaling, optimization, and analytics</a:t>
            </a:r>
          </a:p>
          <a:p>
            <a:endParaRPr lang="en-US" dirty="0"/>
          </a:p>
        </p:txBody>
      </p:sp>
      <p:sp>
        <p:nvSpPr>
          <p:cNvPr id="21" name="TextBox 19"/>
          <p:cNvSpPr txBox="1"/>
          <p:nvPr/>
        </p:nvSpPr>
        <p:spPr>
          <a:xfrm>
            <a:off x="1204898" y="305603"/>
            <a:ext cx="14838845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 dirty="0">
                <a:latin typeface="Bricolage Grotesque" panose="020B0604020202020204" charset="0"/>
              </a:rPr>
              <a:t>Evaluation, Insights &amp; Conclusion</a:t>
            </a:r>
            <a:endParaRPr lang="en-US" sz="6000" b="1" dirty="0">
              <a:solidFill>
                <a:srgbClr val="010440"/>
              </a:solidFill>
              <a:latin typeface="Bricolage Grotesque" panose="020B0604020202020204" charset="0"/>
              <a:ea typeface="Bricolage Grotesque Bold"/>
              <a:cs typeface="Bricolage Grotesque Bold"/>
              <a:sym typeface="Bricolage Grotesque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E5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72579">
            <a:off x="4790846" y="-3144349"/>
            <a:ext cx="17824581" cy="15102281"/>
          </a:xfrm>
          <a:custGeom>
            <a:avLst/>
            <a:gdLst/>
            <a:ahLst/>
            <a:cxnLst/>
            <a:rect l="l" t="t" r="r" b="b"/>
            <a:pathLst>
              <a:path w="17824581" h="15102281">
                <a:moveTo>
                  <a:pt x="0" y="0"/>
                </a:moveTo>
                <a:lnTo>
                  <a:pt x="17824581" y="0"/>
                </a:lnTo>
                <a:lnTo>
                  <a:pt x="17824581" y="15102282"/>
                </a:lnTo>
                <a:lnTo>
                  <a:pt x="0" y="15102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10695">
            <a:off x="12118145" y="-2317873"/>
            <a:ext cx="8564472" cy="8496423"/>
          </a:xfrm>
          <a:custGeom>
            <a:avLst/>
            <a:gdLst/>
            <a:ahLst/>
            <a:cxnLst/>
            <a:rect l="l" t="t" r="r" b="b"/>
            <a:pathLst>
              <a:path w="8564472" h="8496423">
                <a:moveTo>
                  <a:pt x="0" y="0"/>
                </a:moveTo>
                <a:lnTo>
                  <a:pt x="8564473" y="0"/>
                </a:lnTo>
                <a:lnTo>
                  <a:pt x="8564473" y="8496423"/>
                </a:lnTo>
                <a:lnTo>
                  <a:pt x="0" y="849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46277" y="994881"/>
            <a:ext cx="8656915" cy="8263419"/>
          </a:xfrm>
          <a:custGeom>
            <a:avLst/>
            <a:gdLst/>
            <a:ahLst/>
            <a:cxnLst/>
            <a:rect l="l" t="t" r="r" b="b"/>
            <a:pathLst>
              <a:path w="8656915" h="8263419">
                <a:moveTo>
                  <a:pt x="0" y="0"/>
                </a:moveTo>
                <a:lnTo>
                  <a:pt x="8656915" y="0"/>
                </a:lnTo>
                <a:lnTo>
                  <a:pt x="8656915" y="8263419"/>
                </a:lnTo>
                <a:lnTo>
                  <a:pt x="0" y="8263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398740"/>
            <a:ext cx="5882081" cy="338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 lang="en-US" sz="2000" dirty="0">
              <a:solidFill>
                <a:srgbClr val="010440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6" name="Freeform 16"/>
          <p:cNvSpPr/>
          <p:nvPr/>
        </p:nvSpPr>
        <p:spPr>
          <a:xfrm rot="5400000">
            <a:off x="-622455" y="9926719"/>
            <a:ext cx="7820002" cy="6575093"/>
          </a:xfrm>
          <a:custGeom>
            <a:avLst/>
            <a:gdLst/>
            <a:ahLst/>
            <a:cxnLst/>
            <a:rect l="l" t="t" r="r" b="b"/>
            <a:pathLst>
              <a:path w="7820002" h="6575093">
                <a:moveTo>
                  <a:pt x="0" y="0"/>
                </a:moveTo>
                <a:lnTo>
                  <a:pt x="7820002" y="0"/>
                </a:lnTo>
                <a:lnTo>
                  <a:pt x="7820002" y="6575092"/>
                </a:lnTo>
                <a:lnTo>
                  <a:pt x="0" y="65750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r="-27668" b="-51840"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0" y="8057326"/>
            <a:ext cx="4348577" cy="3287721"/>
          </a:xfrm>
          <a:custGeom>
            <a:avLst/>
            <a:gdLst/>
            <a:ahLst/>
            <a:cxnLst/>
            <a:rect l="l" t="t" r="r" b="b"/>
            <a:pathLst>
              <a:path w="4348577" h="3287721">
                <a:moveTo>
                  <a:pt x="0" y="0"/>
                </a:moveTo>
                <a:lnTo>
                  <a:pt x="4348577" y="0"/>
                </a:lnTo>
                <a:lnTo>
                  <a:pt x="4348577" y="3287721"/>
                </a:lnTo>
                <a:lnTo>
                  <a:pt x="0" y="3287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2267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649145" y="9343961"/>
            <a:ext cx="1818907" cy="1795757"/>
          </a:xfrm>
          <a:custGeom>
            <a:avLst/>
            <a:gdLst/>
            <a:ahLst/>
            <a:cxnLst/>
            <a:rect l="l" t="t" r="r" b="b"/>
            <a:pathLst>
              <a:path w="1818907" h="1795757">
                <a:moveTo>
                  <a:pt x="0" y="0"/>
                </a:moveTo>
                <a:lnTo>
                  <a:pt x="1818907" y="0"/>
                </a:lnTo>
                <a:lnTo>
                  <a:pt x="1818907" y="1795757"/>
                </a:lnTo>
                <a:lnTo>
                  <a:pt x="0" y="179575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272088" y="3239253"/>
            <a:ext cx="99184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 smtClean="0">
                <a:latin typeface="Bricolage Grotesque" panose="020B0604020202020204" charset="0"/>
              </a:rPr>
              <a:t>THANK YOU!</a:t>
            </a:r>
            <a:endParaRPr lang="en-US" sz="9600" b="1" dirty="0">
              <a:latin typeface="Bricolage Grotesqu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84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443</Words>
  <Application>Microsoft Office PowerPoint</Application>
  <PresentationFormat>Custom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Bricolage Grotesque Bold</vt:lpstr>
      <vt:lpstr>Calibri</vt:lpstr>
      <vt:lpstr>Bricolage Grotesque</vt:lpstr>
      <vt:lpstr>Arial</vt:lpstr>
      <vt:lpstr>Arial Unicode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Green Illustration About Mental Health Presentation</dc:title>
  <dc:creator>User</dc:creator>
  <cp:lastModifiedBy>Microsoft account</cp:lastModifiedBy>
  <cp:revision>12</cp:revision>
  <dcterms:created xsi:type="dcterms:W3CDTF">2006-08-16T00:00:00Z</dcterms:created>
  <dcterms:modified xsi:type="dcterms:W3CDTF">2025-05-01T04:57:38Z</dcterms:modified>
  <dc:identifier>DAGmKe7DijQ</dc:identifier>
</cp:coreProperties>
</file>